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82"/>
  </p:normalViewPr>
  <p:slideViewPr>
    <p:cSldViewPr snapToGrid="0" snapToObjects="1">
      <p:cViewPr varScale="1">
        <p:scale>
          <a:sx n="169" d="100"/>
          <a:sy n="169" d="100"/>
        </p:scale>
        <p:origin x="19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5221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rogressiveinviztational2026-5pfedegdmgjfycvuybaeyd.streamlit.app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Driverless TNC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200400" y="2514600"/>
            <a:ext cx="2743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Waymo's Safety Record and What It Means for Progressive TNC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 Le  ·  Progressive InVIZtational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28600"/>
            <a:ext cx="27432" cy="274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0" y="457200"/>
            <a:ext cx="41148" cy="411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834640" y="164592"/>
            <a:ext cx="27432" cy="274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023360" y="365760"/>
            <a:ext cx="27432" cy="274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212080" y="137160"/>
            <a:ext cx="41148" cy="411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0" y="347472"/>
            <a:ext cx="27432" cy="274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589520" y="201168"/>
            <a:ext cx="41148" cy="411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0" y="411480"/>
            <a:ext cx="41148" cy="411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97280" y="685800"/>
            <a:ext cx="27432" cy="274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377440" y="822960"/>
            <a:ext cx="27432" cy="274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0" y="621792"/>
            <a:ext cx="41148" cy="411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46320" y="777240"/>
            <a:ext cx="41148" cy="411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17920" y="658368"/>
            <a:ext cx="27432" cy="274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315200" y="868680"/>
            <a:ext cx="41148" cy="411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412480" y="548640"/>
            <a:ext cx="41148" cy="411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914400"/>
            <a:ext cx="27432" cy="274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828800" y="1005840"/>
            <a:ext cx="41148" cy="411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480560" y="960120"/>
            <a:ext cx="27432" cy="274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858000" y="502920"/>
            <a:ext cx="27432" cy="274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0" y="1170432"/>
            <a:ext cx="9144000" cy="164592"/>
          </a:xfrm>
          <a:prstGeom prst="rect">
            <a:avLst/>
          </a:prstGeom>
          <a:solidFill>
            <a:srgbClr val="0D2030">
              <a:alpha val="70000"/>
            </a:srgbClr>
          </a:solidFill>
          <a:ln w="1270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0" y="1325880"/>
            <a:ext cx="9144000" cy="3657600"/>
          </a:xfrm>
          <a:prstGeom prst="rect">
            <a:avLst/>
          </a:prstGeom>
          <a:solidFill>
            <a:srgbClr val="131313"/>
          </a:solidFill>
          <a:ln w="12700">
            <a:solidFill>
              <a:srgbClr val="1313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0" y="1325880"/>
            <a:ext cx="9144000" cy="54864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0" y="4928616"/>
            <a:ext cx="9144000" cy="54864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0" y="3127248"/>
            <a:ext cx="502920" cy="54864"/>
          </a:xfrm>
          <a:prstGeom prst="rect">
            <a:avLst/>
          </a:prstGeom>
          <a:solidFill>
            <a:srgbClr val="E8C100"/>
          </a:solidFill>
          <a:ln w="12700">
            <a:solidFill>
              <a:srgbClr val="E8C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051560" y="3127248"/>
            <a:ext cx="502920" cy="54864"/>
          </a:xfrm>
          <a:prstGeom prst="rect">
            <a:avLst/>
          </a:prstGeom>
          <a:solidFill>
            <a:srgbClr val="E8C100"/>
          </a:solidFill>
          <a:ln w="12700">
            <a:solidFill>
              <a:srgbClr val="E8C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103120" y="3127248"/>
            <a:ext cx="502920" cy="54864"/>
          </a:xfrm>
          <a:prstGeom prst="rect">
            <a:avLst/>
          </a:prstGeom>
          <a:solidFill>
            <a:srgbClr val="E8C100"/>
          </a:solidFill>
          <a:ln w="12700">
            <a:solidFill>
              <a:srgbClr val="E8C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154680" y="3127248"/>
            <a:ext cx="502920" cy="54864"/>
          </a:xfrm>
          <a:prstGeom prst="rect">
            <a:avLst/>
          </a:prstGeom>
          <a:solidFill>
            <a:srgbClr val="E8C100"/>
          </a:solidFill>
          <a:ln w="12700">
            <a:solidFill>
              <a:srgbClr val="E8C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206240" y="3127248"/>
            <a:ext cx="502920" cy="54864"/>
          </a:xfrm>
          <a:prstGeom prst="rect">
            <a:avLst/>
          </a:prstGeom>
          <a:solidFill>
            <a:srgbClr val="E8C100"/>
          </a:solidFill>
          <a:ln w="12700">
            <a:solidFill>
              <a:srgbClr val="E8C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257800" y="3127248"/>
            <a:ext cx="502920" cy="54864"/>
          </a:xfrm>
          <a:prstGeom prst="rect">
            <a:avLst/>
          </a:prstGeom>
          <a:solidFill>
            <a:srgbClr val="E8C100"/>
          </a:solidFill>
          <a:ln w="12700">
            <a:solidFill>
              <a:srgbClr val="E8C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309360" y="3127248"/>
            <a:ext cx="502920" cy="54864"/>
          </a:xfrm>
          <a:prstGeom prst="rect">
            <a:avLst/>
          </a:prstGeom>
          <a:solidFill>
            <a:srgbClr val="E8C100"/>
          </a:solidFill>
          <a:ln w="12700">
            <a:solidFill>
              <a:srgbClr val="E8C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360920" y="3127248"/>
            <a:ext cx="502920" cy="54864"/>
          </a:xfrm>
          <a:prstGeom prst="rect">
            <a:avLst/>
          </a:prstGeom>
          <a:solidFill>
            <a:srgbClr val="E8C100"/>
          </a:solidFill>
          <a:ln w="12700">
            <a:solidFill>
              <a:srgbClr val="E8C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412480" y="3127248"/>
            <a:ext cx="502920" cy="54864"/>
          </a:xfrm>
          <a:prstGeom prst="rect">
            <a:avLst/>
          </a:prstGeom>
          <a:solidFill>
            <a:srgbClr val="E8C100"/>
          </a:solidFill>
          <a:ln w="12700">
            <a:solidFill>
              <a:srgbClr val="E8C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464040" y="3127248"/>
            <a:ext cx="502920" cy="54864"/>
          </a:xfrm>
          <a:prstGeom prst="rect">
            <a:avLst/>
          </a:prstGeom>
          <a:solidFill>
            <a:srgbClr val="E8C100"/>
          </a:solidFill>
          <a:ln w="12700">
            <a:solidFill>
              <a:srgbClr val="E8C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926080" y="328269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Driver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669280" y="328269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Driver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384914" y="41742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WAYMO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16052" y="30632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kind of TNC just entered the market.</a:t>
            </a:r>
            <a:endParaRPr lang="en-US" sz="3200" dirty="0"/>
          </a:p>
        </p:txBody>
      </p:sp>
      <p:pic>
        <p:nvPicPr>
          <p:cNvPr id="57" name="Graphic 56" descr="Car with solid fill">
            <a:extLst>
              <a:ext uri="{FF2B5EF4-FFF2-40B4-BE49-F238E27FC236}">
                <a16:creationId xmlns:a16="http://schemas.microsoft.com/office/drawing/2014/main" id="{C51026B2-EA1B-42CD-1DC8-AA8814B176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26350" y="1819656"/>
            <a:ext cx="1645920" cy="1645920"/>
          </a:xfrm>
          <a:prstGeom prst="rect">
            <a:avLst/>
          </a:prstGeom>
        </p:spPr>
      </p:pic>
      <p:pic>
        <p:nvPicPr>
          <p:cNvPr id="58" name="Graphic 57" descr="Car with solid fill">
            <a:extLst>
              <a:ext uri="{FF2B5EF4-FFF2-40B4-BE49-F238E27FC236}">
                <a16:creationId xmlns:a16="http://schemas.microsoft.com/office/drawing/2014/main" id="{83BA2CCC-506C-5D2A-715B-A52F7CB976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54980" y="1819656"/>
            <a:ext cx="1645920" cy="1645920"/>
          </a:xfrm>
          <a:prstGeom prst="rect">
            <a:avLst/>
          </a:prstGeom>
        </p:spPr>
      </p:pic>
      <p:pic>
        <p:nvPicPr>
          <p:cNvPr id="60" name="Graphic 59" descr="Convertible with solid fill">
            <a:extLst>
              <a:ext uri="{FF2B5EF4-FFF2-40B4-BE49-F238E27FC236}">
                <a16:creationId xmlns:a16="http://schemas.microsoft.com/office/drawing/2014/main" id="{592FDDFC-42D2-D875-0401-05CC1E5AFE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20479" y="2994660"/>
            <a:ext cx="1691640" cy="16916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150867" y="1257300"/>
            <a:ext cx="4238245" cy="35844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Waymo?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 rot="5400000" flipV="1">
            <a:off x="1959103" y="2553462"/>
            <a:ext cx="5152644" cy="45719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75438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TNC permit. Very different crash rate.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4114800" cy="3584448"/>
          </a:xfrm>
          <a:prstGeom prst="rect">
            <a:avLst/>
          </a:prstGeom>
          <a:solidFill>
            <a:srgbClr val="1F3347"/>
          </a:solidFill>
          <a:ln w="1270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261872"/>
            <a:ext cx="4114800" cy="3584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Waymo is Alphabet's (Google's parent) autonomous vehicle division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Holds a CPUC TNC permit — the same permit class as Uber and Lyft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Vehicles: Jaguar </a:t>
            </a:r>
            <a:r>
              <a:rPr lang="en-US" sz="12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i</a:t>
            </a:r>
            <a:r>
              <a:rPr lang="en-US" sz="12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-Pace with autonomous sensor dome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170.7 million rider-only miles logged Sep 2020 – Dec 2025</a:t>
            </a:r>
          </a:p>
        </p:txBody>
      </p:sp>
      <p:sp>
        <p:nvSpPr>
          <p:cNvPr id="9" name="Text 7"/>
          <p:cNvSpPr/>
          <p:nvPr/>
        </p:nvSpPr>
        <p:spPr>
          <a:xfrm>
            <a:off x="4572000" y="1463040"/>
            <a:ext cx="42976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InVIZtational 2026</a:t>
            </a:r>
            <a:endParaRPr lang="en-US" sz="900" dirty="0"/>
          </a:p>
        </p:txBody>
      </p:sp>
      <p:pic>
        <p:nvPicPr>
          <p:cNvPr id="13" name="Picture 12" descr="WAYMO AND JAGUAR LAND ROVER ANNOUNCE LONG-TERM PARTNERSHIP, BEGINNING WITH  SELF-DRIVING JAGUAR I-PACE | Jaguar 2024 Media Newsroom">
            <a:extLst>
              <a:ext uri="{FF2B5EF4-FFF2-40B4-BE49-F238E27FC236}">
                <a16:creationId xmlns:a16="http://schemas.microsoft.com/office/drawing/2014/main" id="{44802CC4-C97A-6E66-0495-3EBF0242F1A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675" t="28870" r="5010" b="-128"/>
          <a:stretch>
            <a:fillRect/>
          </a:stretch>
        </p:blipFill>
        <p:spPr>
          <a:xfrm>
            <a:off x="4585716" y="50292"/>
            <a:ext cx="4506371" cy="5042916"/>
          </a:xfrm>
          <a:prstGeom prst="rect">
            <a:avLst/>
          </a:prstGeom>
          <a:effectLst>
            <a:softEdge rad="0"/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7E44D0B-B7F3-143A-29D4-82D1EDA80D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05" y="1261872"/>
            <a:ext cx="4114793" cy="2131497"/>
          </a:xfrm>
          <a:prstGeom prst="rect">
            <a:avLst/>
          </a:prstGeom>
          <a:effectLst>
            <a:softEdge rad="2664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CSVs → Python → SQLite → Streamlit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2651760" cy="3383280"/>
          </a:xfrm>
          <a:prstGeom prst="rect">
            <a:avLst/>
          </a:prstGeom>
          <a:solidFill>
            <a:srgbClr val="1F3347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645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4320" y="228600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Waymo CSVs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170.7M miles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2020–Dec 2025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463040"/>
            <a:ext cx="2651760" cy="3383280"/>
          </a:xfrm>
          <a:prstGeom prst="rect">
            <a:avLst/>
          </a:prstGeom>
          <a:solidFill>
            <a:srgbClr val="1F3347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46120" y="1645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Pipeline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46120" y="228600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clean_data.py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load_db.py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+ SQLite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2651760" cy="3383280"/>
          </a:xfrm>
          <a:prstGeom prst="rect">
            <a:avLst/>
          </a:prstGeom>
          <a:solidFill>
            <a:srgbClr val="1F3347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17920" y="1645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17920" y="228600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interactive pages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Publicly deployed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Cloud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InVIZtational 2026</a:t>
            </a:r>
            <a:endParaRPr lang="en-US" sz="9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74A268F-1720-D9A1-3329-AAED83FCDA5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852" t="796" r="845" b="25337"/>
          <a:stretch>
            <a:fillRect/>
          </a:stretch>
        </p:blipFill>
        <p:spPr>
          <a:xfrm>
            <a:off x="130227" y="2719763"/>
            <a:ext cx="8883546" cy="2544317"/>
          </a:xfrm>
          <a:prstGeom prst="rect">
            <a:avLst/>
          </a:prstGeom>
          <a:effectLst>
            <a:outerShdw blurRad="50800" dist="50800" dir="5400000" sx="1000" sy="1000" algn="ctr" rotWithShape="0">
              <a:srgbClr val="000000"/>
            </a:outerShdw>
            <a:softEdge rad="1129458"/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Gap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Waymo vs. human-driver benchmark — crashes per million miles (IPMM)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8595360" cy="3383280"/>
          </a:xfrm>
          <a:prstGeom prst="rect">
            <a:avLst/>
          </a:prstGeom>
          <a:solidFill>
            <a:srgbClr val="1F3347"/>
          </a:solidFill>
          <a:ln w="1270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463040"/>
            <a:ext cx="85953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Paste screenshot: Safety Gap page from Streamlit app 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InVIZtational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County Deep Dive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Police-reported IPMM by county vs. human TNC benchmark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8595360" cy="3383280"/>
          </a:xfrm>
          <a:prstGeom prst="rect">
            <a:avLst/>
          </a:prstGeom>
          <a:solidFill>
            <a:srgbClr val="1F3347"/>
          </a:solidFill>
          <a:ln w="1270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463040"/>
            <a:ext cx="85953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Paste screenshot: County Deep Dive page from Streamlit app 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InVIZtational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Profile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kinds of crashes does Waymo have? (n = 1,390)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8595360" cy="3383280"/>
          </a:xfrm>
          <a:prstGeom prst="rect">
            <a:avLst/>
          </a:prstGeom>
          <a:solidFill>
            <a:srgbClr val="1F3347"/>
          </a:solidFill>
          <a:ln w="1270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463040"/>
            <a:ext cx="85953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Paste screenshot: Crash Profile page from Streamlit app 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InVIZtational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Scale Question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Waymo ran at CA TNC scale? (3.5B miles/year)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8595360" cy="3383280"/>
          </a:xfrm>
          <a:prstGeom prst="rect">
            <a:avLst/>
          </a:prstGeom>
          <a:solidFill>
            <a:srgbClr val="1F3347"/>
          </a:solidFill>
          <a:ln w="1270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463040"/>
            <a:ext cx="85953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Paste screenshot: The Scale Question page from Streamlit app 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InVIZtational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Progressive should be paying attention right now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2743200" cy="3429000"/>
          </a:xfrm>
          <a:prstGeom prst="rect">
            <a:avLst/>
          </a:prstGeom>
          <a:solidFill>
            <a:srgbClr val="1F3347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7373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$1.5B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74320" y="292608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TNC Premium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(last 10 years)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743200" cy="3429000"/>
          </a:xfrm>
          <a:prstGeom prst="rect">
            <a:avLst/>
          </a:prstGeom>
          <a:solidFill>
            <a:srgbClr val="1F3347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46120" y="17373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65–90%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246120" y="292608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crashes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human TNC drivers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417320"/>
            <a:ext cx="2743200" cy="3429000"/>
          </a:xfrm>
          <a:prstGeom prst="rect">
            <a:avLst/>
          </a:prstGeom>
          <a:solidFill>
            <a:srgbClr val="1F3347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17920" y="17373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217920" y="292608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Waymo holds the same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CPUC TNC permit as Uber/Lyft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InVIZtational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Data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0" y="2057400"/>
            <a:ext cx="2743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hlinkClick r:id="rId3"/>
          </p:cNvPr>
          <p:cNvSpPr/>
          <p:nvPr/>
        </p:nvSpPr>
        <p:spPr>
          <a:xfrm>
            <a:off x="457200" y="2240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u="sng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progressiveinviztational2026-5pfedegdmgjfycvuybaeyd.streamlit.app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 · SQLite · Streamlit · Plotly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Waymo Safety Impact Data Hub  ·  Sep 2020 – Dec 2025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 Le  ·  Progressive InVIZtational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351</Words>
  <Application>Microsoft Macintosh PowerPoint</Application>
  <PresentationFormat>On-screen Show (16:9)</PresentationFormat>
  <Paragraphs>82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Driverless TNC</dc:title>
  <dc:subject>PptxGenJS Presentation</dc:subject>
  <dc:creator>Doan Le</dc:creator>
  <cp:lastModifiedBy>Le, Doan</cp:lastModifiedBy>
  <cp:revision>2</cp:revision>
  <dcterms:created xsi:type="dcterms:W3CDTF">2026-06-17T17:52:49Z</dcterms:created>
  <dcterms:modified xsi:type="dcterms:W3CDTF">2026-06-17T22:53:37Z</dcterms:modified>
</cp:coreProperties>
</file>